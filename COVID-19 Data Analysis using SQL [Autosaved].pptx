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94249" autoAdjust="0"/>
  </p:normalViewPr>
  <p:slideViewPr>
    <p:cSldViewPr snapToGrid="0">
      <p:cViewPr varScale="1">
        <p:scale>
          <a:sx n="67" d="100"/>
          <a:sy n="67" d="100"/>
        </p:scale>
        <p:origin x="102" y="1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DDDEA-63BC-40A0-8BC0-D6413F38691F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6F76E-E60C-4C54-B47A-C2C406EC8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48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7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6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5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23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11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7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8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3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521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Covid: Why is coronavirus such a threat?">
            <a:extLst>
              <a:ext uri="{FF2B5EF4-FFF2-40B4-BE49-F238E27FC236}">
                <a16:creationId xmlns:a16="http://schemas.microsoft.com/office/drawing/2014/main" id="{62A29930-9F4E-46E1-9442-77D15CA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0485" y="1050613"/>
            <a:ext cx="10225530" cy="147501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COVID-19 Data Analysis using SQL</a:t>
            </a:r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2525626"/>
            <a:ext cx="10225530" cy="590321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Exploratory Analysis of Cases, Deaths, and Vaccination Trends (2020–2021)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33864F-1FDA-431E-922F-F94DBB6BCFA8}"/>
              </a:ext>
            </a:extLst>
          </p:cNvPr>
          <p:cNvSpPr/>
          <p:nvPr/>
        </p:nvSpPr>
        <p:spPr>
          <a:xfrm>
            <a:off x="283622" y="5796172"/>
            <a:ext cx="579434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Prepared by: Enos Mohod</a:t>
            </a:r>
          </a:p>
          <a:p>
            <a:r>
              <a:rPr lang="en-US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Tools Used: SQL Server Management Studio (SMSS)</a:t>
            </a:r>
          </a:p>
        </p:txBody>
      </p:sp>
    </p:spTree>
    <p:extLst>
      <p:ext uri="{BB962C8B-B14F-4D97-AF65-F5344CB8AC3E}">
        <p14:creationId xmlns:p14="http://schemas.microsoft.com/office/powerpoint/2010/main" val="1205248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Covid: Why is coronavirus such a threat?">
            <a:extLst>
              <a:ext uri="{FF2B5EF4-FFF2-40B4-BE49-F238E27FC236}">
                <a16:creationId xmlns:a16="http://schemas.microsoft.com/office/drawing/2014/main" id="{62A29930-9F4E-46E1-9442-77D15CA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22" y="-383565"/>
            <a:ext cx="10225530" cy="147501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cs typeface="Calibri" panose="020F0502020204030204" pitchFamily="34" charset="0"/>
              </a:rPr>
              <a:t>PROBLEM STATEMENT &amp; OBJECTIVES</a:t>
            </a:r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22" y="1217331"/>
            <a:ext cx="11057206" cy="3129586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COVID-19 pandemic generated large volumes of global data related to cases, deaths, and vaccinations.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However, raw data alone does not clearly explain: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the impact varied across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severity changed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vaccination progressed relative to population size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analysis aims to convert raw COVID data into meaningful, structured insights using SQL.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83504E-1A35-4549-94C2-2B909EBF898C}"/>
              </a:ext>
            </a:extLst>
          </p:cNvPr>
          <p:cNvSpPr/>
          <p:nvPr/>
        </p:nvSpPr>
        <p:spPr>
          <a:xfrm>
            <a:off x="350715" y="4074247"/>
            <a:ext cx="7108228" cy="23624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Analyze COVID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cases and deaths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across countries and continents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time-based trends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in death severity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Compare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population-normalized metrics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to avoid misleading absolute numbers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Examine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vaccination rollout trends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using cumulative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Focus on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descriptive and comparative insights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not predictions</a:t>
            </a:r>
          </a:p>
        </p:txBody>
      </p:sp>
    </p:spTree>
    <p:extLst>
      <p:ext uri="{BB962C8B-B14F-4D97-AF65-F5344CB8AC3E}">
        <p14:creationId xmlns:p14="http://schemas.microsoft.com/office/powerpoint/2010/main" val="1284385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Covid: Why is coronavirus such a threat?">
            <a:extLst>
              <a:ext uri="{FF2B5EF4-FFF2-40B4-BE49-F238E27FC236}">
                <a16:creationId xmlns:a16="http://schemas.microsoft.com/office/drawing/2014/main" id="{62A29930-9F4E-46E1-9442-77D15CA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22" y="-383565"/>
            <a:ext cx="10225530" cy="147501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Calibri" panose="020F0502020204030204" pitchFamily="34" charset="0"/>
                <a:cs typeface="Calibri" panose="020F0502020204030204" pitchFamily="34" charset="0"/>
              </a:rPr>
              <a:t>DATASET OVERVIEW</a:t>
            </a:r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22" y="1231399"/>
            <a:ext cx="11057206" cy="531007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 COVID-19 public dataset covering 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2020–2021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Contains daily records for multiple countries and regions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Includes information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Confirmed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Vaccination data</a:t>
            </a:r>
          </a:p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Granularity: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Daily, country-level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Geographic Coverage: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Global (countries &amp; continents)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Nature: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Time-series with cumulative and daily metrics</a:t>
            </a:r>
          </a:p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822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Covid: Why is coronavirus such a threat?">
            <a:extLst>
              <a:ext uri="{FF2B5EF4-FFF2-40B4-BE49-F238E27FC236}">
                <a16:creationId xmlns:a16="http://schemas.microsoft.com/office/drawing/2014/main" id="{62A29930-9F4E-46E1-9442-77D15CA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22" y="-383565"/>
            <a:ext cx="10225530" cy="147501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Insight - 1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COVID Death Percentage Varies Significantly Across Countries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22" y="1231399"/>
            <a:ext cx="11617646" cy="531007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Observation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comparing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deaths relative to total cases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the country level, there is a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wide variation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death percentages across countries.</a:t>
            </a:r>
          </a:p>
          <a:p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Yemen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records 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highest death percentage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approximately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25.94%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indicating a very high fatality rate relative to reported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Singapore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records one of 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lowest death percentages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approximately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0.05%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despite having reported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India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used as a country-specific reference, shows a death percentage of approximately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1.45%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which lies between the global extremes.</a:t>
            </a: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745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Covid: Why is coronavirus such a threat?">
            <a:extLst>
              <a:ext uri="{FF2B5EF4-FFF2-40B4-BE49-F238E27FC236}">
                <a16:creationId xmlns:a16="http://schemas.microsoft.com/office/drawing/2014/main" id="{62A29930-9F4E-46E1-9442-77D15CA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22" y="-383565"/>
            <a:ext cx="10225530" cy="147501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Insight - 2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COVID Death Percentage Is More Consistent at the Continent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22" y="1231399"/>
            <a:ext cx="11603578" cy="531007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Observation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COVID death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percentage is analyzed at 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continent level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the variation is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much smaller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compared to country-level analysis.</a:t>
            </a:r>
          </a:p>
          <a:p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European Union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shows 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highest death percentage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approximately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2.83%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Africa, North America, South America, Europe, and Oceania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all show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similar death percentages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generally above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~2.5%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Asia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records 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lowest death percentage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approximately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1.66%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842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Covid: Why is coronavirus such a threat?">
            <a:extLst>
              <a:ext uri="{FF2B5EF4-FFF2-40B4-BE49-F238E27FC236}">
                <a16:creationId xmlns:a16="http://schemas.microsoft.com/office/drawing/2014/main" id="{62A29930-9F4E-46E1-9442-77D15CA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22" y="-383565"/>
            <a:ext cx="10225530" cy="147501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Insight - 3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Global COVID Death Percentage Trend Over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22" y="1231399"/>
            <a:ext cx="11603578" cy="531007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Observation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analyzing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COVID death percentage globally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 time, a clear peak in severity is observed during 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middle of 2020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followed by a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gradual decline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During 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middle months of 2020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global death percentage was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significantly high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reaching approximately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6%–7%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indicating a severe phase of the pandemic.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mid-2020, the death percentage began to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decline steadily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despite increasing case volumes.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 2020 and early 2021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global death percentage stabilized around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~2%–2.5%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175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Covid: Why is coronavirus such a threat?">
            <a:extLst>
              <a:ext uri="{FF2B5EF4-FFF2-40B4-BE49-F238E27FC236}">
                <a16:creationId xmlns:a16="http://schemas.microsoft.com/office/drawing/2014/main" id="{62A29930-9F4E-46E1-9442-77D15CA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22" y="-383565"/>
            <a:ext cx="10225530" cy="147501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Insight - 4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India: COVID Death Percentage Trend Over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22" y="1231399"/>
            <a:ext cx="11603578" cy="531007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Observation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India experienced its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highest COVID death percentage during mid-2020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after which the rate showed a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steady and sustained decline into 2021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early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2020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India’s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death percentage was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relatively low (~1.6%).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During April–June 2020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the death percentage increased sharply,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peaking around ~3.6%,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aligning with 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 severity peak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mid-2020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the death percentage consistently declined, falling to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approximately ~1.1% by April 2021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Once the downward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trend began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no further sharp increases were observed.</a:t>
            </a: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698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Covid: Why is coronavirus such a threat?">
            <a:extLst>
              <a:ext uri="{FF2B5EF4-FFF2-40B4-BE49-F238E27FC236}">
                <a16:creationId xmlns:a16="http://schemas.microsoft.com/office/drawing/2014/main" id="{62A29930-9F4E-46E1-9442-77D15CA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22" y="-383565"/>
            <a:ext cx="11223750" cy="147501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Insight - 5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Population-Normalized COVID Infection Comparison (Country Level)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22" y="1231399"/>
            <a:ext cx="11603578" cy="531007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Observation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COVID cases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compared against population size, a small group of countries shows disproportionately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infection penetration</a:t>
            </a:r>
            <a:r>
              <a:rPr lang="en-US" sz="2400" dirty="0"/>
              <a:t>.</a:t>
            </a:r>
          </a:p>
          <a:p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Andorra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records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highest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population infection rate, with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approximately ~17.12%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its population reported as infected.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countries such as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Montenegro, Czechia, San Marino, and Luxembourg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also show high infection percentages, generally in 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~12%–15%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 countries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fall well below these levels, highlighting how extreme these cases are in proportional terms.</a:t>
            </a: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818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Covid: Why is coronavirus such a threat?">
            <a:extLst>
              <a:ext uri="{FF2B5EF4-FFF2-40B4-BE49-F238E27FC236}">
                <a16:creationId xmlns:a16="http://schemas.microsoft.com/office/drawing/2014/main" id="{62A29930-9F4E-46E1-9442-77D15CA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22" y="-383565"/>
            <a:ext cx="11223750" cy="147501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Insight - 6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India: Population-Normalized COVID Infection Trend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22" y="1231399"/>
            <a:ext cx="11603578" cy="531007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Observation</a:t>
            </a:r>
          </a:p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total COVID cases are analyzed as a percentage of India’s population, the infection rate increased over time but remained below 2%, even at its peak.</a:t>
            </a:r>
          </a:p>
          <a:p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early 2020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the percentage of population infected in India was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negligible (near 0%)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infection percentage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gradually increased over time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reflecting the spread of cases across the country.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highest population infection percentage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was observed in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April 2021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at approximately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~1.38%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 at its peak, India’s population infection rate remained </a:t>
            </a: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significantly lower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than that of several smaller countries.</a:t>
            </a: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065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Covid: Why is coronavirus such a threat?">
            <a:extLst>
              <a:ext uri="{FF2B5EF4-FFF2-40B4-BE49-F238E27FC236}">
                <a16:creationId xmlns:a16="http://schemas.microsoft.com/office/drawing/2014/main" id="{62A29930-9F4E-46E1-9442-77D15CAC7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22" y="-560137"/>
            <a:ext cx="11223750" cy="1475013"/>
          </a:xfrm>
        </p:spPr>
        <p:txBody>
          <a:bodyPr>
            <a:normAutofit/>
          </a:bodyPr>
          <a:lstStyle/>
          <a:p>
            <a:r>
              <a:rPr lang="en-IN" sz="2400" dirty="0"/>
              <a:t>CONCLUSION — KEY TAKEAWAYS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22" y="1231399"/>
            <a:ext cx="11603578" cy="5310078"/>
          </a:xfrm>
        </p:spPr>
        <p:txBody>
          <a:bodyPr>
            <a:no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Summary of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COVID impact varied significantly across countries, especially when analyzed using percentage-based metrics rather than absolute counts.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Country-level extremes in death and infection rates became more stable when viewed at the continent level.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Time-based analysis revealed that pandemic severity peaked during mid-2020 and declined steadily thereafter.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India followed a similar global trend, with both death percentage and population infection rate reducing over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Population-normalized analysis helped provide fair comparisons across countries with very different population sizes.</a:t>
            </a:r>
          </a:p>
        </p:txBody>
      </p:sp>
    </p:spTree>
    <p:extLst>
      <p:ext uri="{BB962C8B-B14F-4D97-AF65-F5344CB8AC3E}">
        <p14:creationId xmlns:p14="http://schemas.microsoft.com/office/powerpoint/2010/main" val="4198836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VTI">
  <a:themeElements>
    <a:clrScheme name="Aspect">
      <a:dk1>
        <a:sysClr val="windowText" lastClr="000000"/>
      </a:dk1>
      <a:lt1>
        <a:sysClr val="window" lastClr="FFFFFF"/>
      </a:lt1>
      <a:dk2>
        <a:srgbClr val="585753"/>
      </a:dk2>
      <a:lt2>
        <a:srgbClr val="EBDDC3"/>
      </a:lt2>
      <a:accent1>
        <a:srgbClr val="71B9E4"/>
      </a:accent1>
      <a:accent2>
        <a:srgbClr val="E25D3C"/>
      </a:accent2>
      <a:accent3>
        <a:srgbClr val="BDB59D"/>
      </a:accent3>
      <a:accent4>
        <a:srgbClr val="A5AB81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7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8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9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0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56C3F92-CC28-42D8-BF09-0770755510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16C154-5A0F-4CDC-8C15-D2E2158464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6D3478-2986-4664-940C-67E0CAA21E0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1454</TotalTime>
  <Words>897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Franklin Gothic Book</vt:lpstr>
      <vt:lpstr>Franklin Gothic Demi</vt:lpstr>
      <vt:lpstr>Wingdings 2</vt:lpstr>
      <vt:lpstr>DividendVTI</vt:lpstr>
      <vt:lpstr>COVID-19 Data Analysis using SQL</vt:lpstr>
      <vt:lpstr>PROBLEM STATEMENT &amp; OBJECTIVES</vt:lpstr>
      <vt:lpstr>DATASET OVERVIEW</vt:lpstr>
      <vt:lpstr>Insight - 1 COVID Death Percentage Varies Significantly Across Countries</vt:lpstr>
      <vt:lpstr>Insight - 2 COVID Death Percentage Is More Consistent at the Continent Level</vt:lpstr>
      <vt:lpstr>Insight - 3 Global COVID Death Percentage Trend Over Time</vt:lpstr>
      <vt:lpstr>Insight - 4 India: COVID Death Percentage Trend Over Time</vt:lpstr>
      <vt:lpstr>Insight - 5 Population-Normalized COVID Infection Comparison (Country Level)</vt:lpstr>
      <vt:lpstr>Insight - 6 India: Population-Normalized COVID Infection Trend</vt:lpstr>
      <vt:lpstr>CONCLUSION —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Data Analysis using SQL</dc:title>
  <dc:creator>Enos Mohod</dc:creator>
  <cp:lastModifiedBy>Enos Mohod</cp:lastModifiedBy>
  <cp:revision>13</cp:revision>
  <dcterms:created xsi:type="dcterms:W3CDTF">2026-01-05T15:45:27Z</dcterms:created>
  <dcterms:modified xsi:type="dcterms:W3CDTF">2026-01-07T13:16:43Z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